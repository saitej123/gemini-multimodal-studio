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github.com/saitej123/Gemini-Multimodal-Studio" TargetMode="External"/><Relationship Id="rId6" Type="http://schemas.openxmlformats.org/officeDocument/2006/relationships/hyperlink" Target="https://multimodal-studio-469528918286.us-central1.run.app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Multimodal Studio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M Sai Teja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A teacher still rebuilds a chapter as slides, then records it. The voice and the picture do not move together, so students get a page read aloud.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92608" y="1298448"/>
            <a:ext cx="8558784" cy="8229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6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Drop a chapter. Get a lesson students keep watching.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92608" y="1938528"/>
            <a:ext cx="8558784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3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Six real looks, hand-drawn motion, and a highlight that follows the voice. It plays like a teacher at the board, not a deck read aloud.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92608" y="2542032"/>
            <a:ext cx="2779776" cy="1783080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You give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PDF, a few notes, or just a topic. Pick the class age, the video shape and a look.</a:t>
            </a:r>
          </a:p>
        </p:txBody>
      </p:sp>
      <p:sp>
        <p:nvSpPr>
          <p:cNvPr id="75" name="Oval 74"/>
          <p:cNvSpPr/>
          <p:nvPr/>
        </p:nvSpPr>
        <p:spPr>
          <a:xfrm>
            <a:off x="438912" y="2644444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182112" y="2542032"/>
            <a:ext cx="2779776" cy="1783080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Studio does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Writes short slides sized to the content, speaks each one, draws the strokes on and films it all.</a:t>
            </a:r>
          </a:p>
        </p:txBody>
      </p:sp>
      <p:sp>
        <p:nvSpPr>
          <p:cNvPr id="77" name="Oval 76"/>
          <p:cNvSpPr/>
          <p:nvPr/>
        </p:nvSpPr>
        <p:spPr>
          <a:xfrm>
            <a:off x="3328416" y="2644444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071616" y="2542032"/>
            <a:ext cx="2779776" cy="1783080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Class gets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short MP4 for YouTube, a Short or a Reel. Replay it, share it, no recording by the teacher.</a:t>
            </a:r>
          </a:p>
        </p:txBody>
      </p:sp>
      <p:sp>
        <p:nvSpPr>
          <p:cNvPr id="79" name="Oval 78"/>
          <p:cNvSpPr/>
          <p:nvPr/>
        </p:nvSpPr>
        <p:spPr>
          <a:xfrm>
            <a:off x="6217920" y="2644444"/>
            <a:ext cx="292608" cy="29260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92608" y="4498848"/>
            <a:ext cx="8558784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1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Built by M Sai Teja (team leader) with Anil Kumar.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292608" y="2240280"/>
            <a:ext cx="2779776" cy="2514600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Different from what exists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Slide tools stop at the deck. Read-aloud tools ignore the picture. Neither gives a class a finished video that looks made for the lesson.</a:t>
            </a:r>
          </a:p>
        </p:txBody>
      </p:sp>
      <p:sp>
        <p:nvSpPr>
          <p:cNvPr id="81" name="Oval 80"/>
          <p:cNvSpPr/>
          <p:nvPr/>
        </p:nvSpPr>
        <p:spPr>
          <a:xfrm>
            <a:off x="438912" y="2342692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182112" y="2240280"/>
            <a:ext cx="2779776" cy="2514600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it fixes ed-tech drop-off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Students leave static decks and flat read-alouds. Here the look changes with the lesson, the screen moves with the voice, and the pen draws as it explains.</a:t>
            </a:r>
          </a:p>
        </p:txBody>
      </p:sp>
      <p:sp>
        <p:nvSpPr>
          <p:cNvPr id="83" name="Oval 82"/>
          <p:cNvSpPr/>
          <p:nvPr/>
        </p:nvSpPr>
        <p:spPr>
          <a:xfrm>
            <a:off x="3328416" y="2342692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71616" y="2240280"/>
            <a:ext cx="2779776" cy="2514600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USP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Voice, highlight and hand-drawn strokes move together, point by point. Each template is built differently, not just recoloured.</a:t>
            </a:r>
          </a:p>
        </p:txBody>
      </p:sp>
      <p:sp>
        <p:nvSpPr>
          <p:cNvPr id="85" name="Oval 84"/>
          <p:cNvSpPr/>
          <p:nvPr/>
        </p:nvSpPr>
        <p:spPr>
          <a:xfrm>
            <a:off x="6217920" y="2342692"/>
            <a:ext cx="292608" cy="29260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292608" y="1371600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One file in, one video out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PDF, notes or a topic. No slide editing, no recording.</a:t>
            </a:r>
          </a:p>
        </p:txBody>
      </p:sp>
      <p:sp>
        <p:nvSpPr>
          <p:cNvPr id="89" name="Oval 88"/>
          <p:cNvSpPr/>
          <p:nvPr/>
        </p:nvSpPr>
        <p:spPr>
          <a:xfrm>
            <a:off x="420624" y="1461211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182112" y="1371600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Pitched at the class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Pick the age and what students already know. The wording follows.</a:t>
            </a:r>
          </a:p>
        </p:txBody>
      </p:sp>
      <p:sp>
        <p:nvSpPr>
          <p:cNvPr id="91" name="Oval 90"/>
          <p:cNvSpPr/>
          <p:nvPr/>
        </p:nvSpPr>
        <p:spPr>
          <a:xfrm>
            <a:off x="3310128" y="1461211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071616" y="1371600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Six real templates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Whiteboard, notebook, poster, editorial, broadcast, bento. Own layout, font and motion each.</a:t>
            </a:r>
          </a:p>
        </p:txBody>
      </p:sp>
      <p:sp>
        <p:nvSpPr>
          <p:cNvPr id="93" name="Oval 92"/>
          <p:cNvSpPr/>
          <p:nvPr/>
        </p:nvSpPr>
        <p:spPr>
          <a:xfrm>
            <a:off x="6199632" y="1461211"/>
            <a:ext cx="292608" cy="292608"/>
          </a:xfrm>
          <a:prstGeom prst="ellipse">
            <a:avLst/>
          </a:prstGeom>
          <a:solidFill>
            <a:srgbClr val="F9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92608" y="2999232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Fits the content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Type is sized per slide: short ideas go big, dense ones shrink. The whole frame is used.</a:t>
            </a:r>
          </a:p>
        </p:txBody>
      </p:sp>
      <p:sp>
        <p:nvSpPr>
          <p:cNvPr id="95" name="Oval 94"/>
          <p:cNvSpPr/>
          <p:nvPr/>
        </p:nvSpPr>
        <p:spPr>
          <a:xfrm>
            <a:off x="420624" y="3088843"/>
            <a:ext cx="292608" cy="29260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182112" y="2999232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Voice, highlight and pen in time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3.8 Live speaks. The highlight moves point by point and lines draw on as it is explained.</a:t>
            </a:r>
          </a:p>
        </p:txBody>
      </p:sp>
      <p:sp>
        <p:nvSpPr>
          <p:cNvPr id="97" name="Oval 96"/>
          <p:cNvSpPr/>
          <p:nvPr/>
        </p:nvSpPr>
        <p:spPr>
          <a:xfrm>
            <a:off x="3310128" y="3088843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5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071616" y="2999232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Ready for YouTube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Landscape, Shorts, Reels or square from the same run.</a:t>
            </a:r>
          </a:p>
        </p:txBody>
      </p:sp>
      <p:sp>
        <p:nvSpPr>
          <p:cNvPr id="99" name="Oval 98"/>
          <p:cNvSpPr/>
          <p:nvPr/>
        </p:nvSpPr>
        <p:spPr>
          <a:xfrm>
            <a:off x="6199632" y="3088843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292608" y="1600200"/>
            <a:ext cx="1280160" cy="1417320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471830" bIns="65836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Drop a file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PDF, notes or topic</a:t>
            </a:r>
          </a:p>
        </p:txBody>
      </p:sp>
      <p:sp>
        <p:nvSpPr>
          <p:cNvPr id="97" name="Oval 96"/>
          <p:cNvSpPr/>
          <p:nvPr/>
        </p:nvSpPr>
        <p:spPr>
          <a:xfrm>
            <a:off x="402336" y="1677009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1581912" y="2313432"/>
            <a:ext cx="157276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ounded Rectangle 98"/>
          <p:cNvSpPr/>
          <p:nvPr/>
        </p:nvSpPr>
        <p:spPr>
          <a:xfrm>
            <a:off x="1748332" y="1600200"/>
            <a:ext cx="1280160" cy="1417320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471830" bIns="65836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Read it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reads each page</a:t>
            </a:r>
          </a:p>
        </p:txBody>
      </p:sp>
      <p:sp>
        <p:nvSpPr>
          <p:cNvPr id="100" name="Oval 99"/>
          <p:cNvSpPr/>
          <p:nvPr/>
        </p:nvSpPr>
        <p:spPr>
          <a:xfrm>
            <a:off x="1858060" y="1677009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3037636" y="2313432"/>
            <a:ext cx="157277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3204057" y="1600200"/>
            <a:ext cx="1280160" cy="1417320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471830" bIns="65836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Write slides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Flash picks the look</a:t>
            </a:r>
          </a:p>
        </p:txBody>
      </p:sp>
      <p:sp>
        <p:nvSpPr>
          <p:cNvPr id="103" name="Oval 102"/>
          <p:cNvSpPr/>
          <p:nvPr/>
        </p:nvSpPr>
        <p:spPr>
          <a:xfrm>
            <a:off x="3313785" y="1677009"/>
            <a:ext cx="292608" cy="292608"/>
          </a:xfrm>
          <a:prstGeom prst="ellipse">
            <a:avLst/>
          </a:prstGeom>
          <a:solidFill>
            <a:srgbClr val="F9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4493361" y="2313432"/>
            <a:ext cx="157277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4659782" y="1600200"/>
            <a:ext cx="1280160" cy="1417320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471830" bIns="65836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Speak them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3.8 Live</a:t>
            </a:r>
          </a:p>
        </p:txBody>
      </p:sp>
      <p:sp>
        <p:nvSpPr>
          <p:cNvPr id="106" name="Oval 105"/>
          <p:cNvSpPr/>
          <p:nvPr/>
        </p:nvSpPr>
        <p:spPr>
          <a:xfrm>
            <a:off x="4769510" y="1677009"/>
            <a:ext cx="292608" cy="29260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5949086" y="2313432"/>
            <a:ext cx="157277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115507" y="1600200"/>
            <a:ext cx="1280160" cy="1417320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471830" bIns="65836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Film frames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Chrome, incl. drawn lines</a:t>
            </a:r>
          </a:p>
        </p:txBody>
      </p:sp>
      <p:sp>
        <p:nvSpPr>
          <p:cNvPr id="109" name="Oval 108"/>
          <p:cNvSpPr/>
          <p:nvPr/>
        </p:nvSpPr>
        <p:spPr>
          <a:xfrm>
            <a:off x="6225235" y="1677009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5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7404811" y="2313432"/>
            <a:ext cx="157277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7571231" y="1600200"/>
            <a:ext cx="1280160" cy="1417320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471830" bIns="65836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MP4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FFmpeg joins sound</a:t>
            </a:r>
          </a:p>
        </p:txBody>
      </p:sp>
      <p:sp>
        <p:nvSpPr>
          <p:cNvPr id="112" name="Oval 111"/>
          <p:cNvSpPr/>
          <p:nvPr/>
        </p:nvSpPr>
        <p:spPr>
          <a:xfrm>
            <a:off x="7680959" y="1677009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92608" y="3310128"/>
            <a:ext cx="8558784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Two ways in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92608" y="3639312"/>
            <a:ext cx="4206240" cy="4572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200" b="0" i="0">
                <a:solidFill>
                  <a:srgbClr val="1F1F1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 teacher drops a file in the Studio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645152" y="3639312"/>
            <a:ext cx="4206240" cy="457200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200" b="0" i="0">
                <a:solidFill>
                  <a:srgbClr val="1F1F1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The admin queue picks a paper overnight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92608" y="4297680"/>
            <a:ext cx="8558784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2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After that it is one path, and the finished video lands back on the same page.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studi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1371600"/>
            <a:ext cx="5577840" cy="2770632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  <p:sp>
        <p:nvSpPr>
          <p:cNvPr id="105" name="Rounded Rectangle 104"/>
          <p:cNvSpPr/>
          <p:nvPr/>
        </p:nvSpPr>
        <p:spPr>
          <a:xfrm>
            <a:off x="6053328" y="1371600"/>
            <a:ext cx="2798064" cy="896112"/>
          </a:xfrm>
          <a:prstGeom prst="roundRect">
            <a:avLst>
              <a:gd name="adj" fmla="val 7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2412" bIns="76809"/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File on the left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Drop the chapter, or type a topic.</a:t>
            </a:r>
          </a:p>
        </p:txBody>
      </p:sp>
      <p:sp>
        <p:nvSpPr>
          <p:cNvPr id="106" name="Oval 105"/>
          <p:cNvSpPr/>
          <p:nvPr/>
        </p:nvSpPr>
        <p:spPr>
          <a:xfrm>
            <a:off x="8467344" y="1463040"/>
            <a:ext cx="256032" cy="256032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053328" y="2340864"/>
            <a:ext cx="2798064" cy="896112"/>
          </a:xfrm>
          <a:prstGeom prst="roundRect">
            <a:avLst>
              <a:gd name="adj" fmla="val 7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2412" bIns="76809"/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Shape and voice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Pick the class age, format, look and a Gemini voice.</a:t>
            </a:r>
          </a:p>
        </p:txBody>
      </p:sp>
      <p:sp>
        <p:nvSpPr>
          <p:cNvPr id="108" name="Oval 107"/>
          <p:cNvSpPr/>
          <p:nvPr/>
        </p:nvSpPr>
        <p:spPr>
          <a:xfrm>
            <a:off x="8467344" y="2432304"/>
            <a:ext cx="256032" cy="256032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053328" y="3310128"/>
            <a:ext cx="2798064" cy="896112"/>
          </a:xfrm>
          <a:prstGeom prst="roundRect">
            <a:avLst>
              <a:gd name="adj" fmla="val 7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2412" bIns="76809"/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Run and watch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video plays on the same page.</a:t>
            </a:r>
          </a:p>
        </p:txBody>
      </p:sp>
      <p:sp>
        <p:nvSpPr>
          <p:cNvPr id="110" name="Oval 109"/>
          <p:cNvSpPr/>
          <p:nvPr/>
        </p:nvSpPr>
        <p:spPr>
          <a:xfrm>
            <a:off x="8467344" y="3401568"/>
            <a:ext cx="256032" cy="256032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92608" y="429768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1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Screen from the running app.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292608" y="1554480"/>
            <a:ext cx="2103120" cy="1097280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2412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Studio page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teacher's browser. No login on the demo.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154680" y="1371600"/>
            <a:ext cx="2834640" cy="3246120"/>
          </a:xfrm>
          <a:prstGeom prst="roundRect">
            <a:avLst>
              <a:gd name="adj" fmla="val 4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291840" y="14447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Cloud Run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291840" y="1828800"/>
            <a:ext cx="2560320" cy="80467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7782" bIns="65836"/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FastAPI jobs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Runs the steps in order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91840" y="2743200"/>
            <a:ext cx="2560320" cy="80467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7782" bIns="65836"/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Chrome frames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Films slides and drawn lines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291840" y="3657600"/>
            <a:ext cx="2560320" cy="80467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7782" bIns="65836"/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FFmpeg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Joins picture and sound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748272" y="1554480"/>
            <a:ext cx="2103120" cy="1097280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2412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3.8 Flash reads and writes. 3.8 Live speaks.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748272" y="2926080"/>
            <a:ext cx="2103120" cy="868680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2412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Firestore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copy of every job.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92608" y="2926080"/>
            <a:ext cx="2103120" cy="868680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2412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MP4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Comes back to the teacher.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2423160" y="2103120"/>
            <a:ext cx="713232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6007608" y="2103120"/>
            <a:ext cx="722376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6007608" y="3355848"/>
            <a:ext cx="722376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>
            <a:off x="2423160" y="3355848"/>
            <a:ext cx="713232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/>
          <p:cNvSpPr txBox="1"/>
          <p:nvPr/>
        </p:nvSpPr>
        <p:spPr>
          <a:xfrm>
            <a:off x="6748272" y="4023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0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Firebase Hosting serves this pitch page.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292608" y="1371600"/>
            <a:ext cx="2779776" cy="1353312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3.8 Flash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Reads the file and writes the slides.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182112" y="1371600"/>
            <a:ext cx="2779776" cy="1353312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4 Argon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Steps in when a chapter is dense.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071616" y="1371600"/>
            <a:ext cx="2779776" cy="1353312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3.8 Live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voice for every slide.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92608" y="2852928"/>
            <a:ext cx="2779776" cy="1353312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Cloud Run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Hosts the app and the video work.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182112" y="2852928"/>
            <a:ext cx="2779776" cy="1353312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Firestore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Keeps a copy of each job.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071616" y="2852928"/>
            <a:ext cx="2779776" cy="1353312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Firebase Hosting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Serves this pitch page.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92608" y="4343400"/>
            <a:ext cx="8558784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1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Inside the container: FastAPI, Playwright and FFmpeg. The six looks and the drawn animation are plain HTML, CSS and a small script, so no extra model is called.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292608" y="1600200"/>
            <a:ext cx="2779776" cy="2286000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 bIns="109728"/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No GPU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model call goes to Gemini. The looks and drawn animation are plain CSS, so they add no cost.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182112" y="1600200"/>
            <a:ext cx="2779776" cy="2286000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 bIns="109728"/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Free tier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Run and Firestore stay free at review traffic.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071616" y="1600200"/>
            <a:ext cx="2779776" cy="2286000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 bIns="109728"/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 few rupees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normal video on Gemini Flash costs a few rupees.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looks-she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1325880"/>
            <a:ext cx="8558784" cy="3218688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292608" y="4572000"/>
            <a:ext cx="8558784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1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Top row: whiteboard, broadcast, poster. Bottom row: editorial, bento, notebook. Real frames from our renderer.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292608" y="1371600"/>
            <a:ext cx="4206240" cy="1554480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Slowest step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Filming the slides in Chrome takes the longest.</a:t>
            </a:r>
          </a:p>
        </p:txBody>
      </p:sp>
      <p:sp>
        <p:nvSpPr>
          <p:cNvPr id="145" name="Oval 144"/>
          <p:cNvSpPr/>
          <p:nvPr/>
        </p:nvSpPr>
        <p:spPr>
          <a:xfrm>
            <a:off x="438912" y="1474012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645152" y="1371600"/>
            <a:ext cx="4206240" cy="1554480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Run side by side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Slide writing and voice clips go out a few at a time, not one by one.</a:t>
            </a:r>
          </a:p>
        </p:txBody>
      </p:sp>
      <p:sp>
        <p:nvSpPr>
          <p:cNvPr id="147" name="Oval 146"/>
          <p:cNvSpPr/>
          <p:nvPr/>
        </p:nvSpPr>
        <p:spPr>
          <a:xfrm>
            <a:off x="4791456" y="1474012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92608" y="3063240"/>
            <a:ext cx="4206240" cy="1554480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Fit at run time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Each slide measures itself and takes the biggest type that still fits, so nothing clips.</a:t>
            </a:r>
          </a:p>
        </p:txBody>
      </p:sp>
      <p:sp>
        <p:nvSpPr>
          <p:cNvPr id="149" name="Oval 148"/>
          <p:cNvSpPr/>
          <p:nvPr/>
        </p:nvSpPr>
        <p:spPr>
          <a:xfrm>
            <a:off x="438912" y="3165652"/>
            <a:ext cx="292608" cy="29260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645152" y="3063240"/>
            <a:ext cx="4206240" cy="1554480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Honest status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Sample decks checked in 16:9, 9:16 and square. A full MP4 on the new looks is still to confirm.</a:t>
            </a:r>
          </a:p>
        </p:txBody>
      </p:sp>
      <p:sp>
        <p:nvSpPr>
          <p:cNvPr id="151" name="Oval 150"/>
          <p:cNvSpPr/>
          <p:nvPr/>
        </p:nvSpPr>
        <p:spPr>
          <a:xfrm>
            <a:off x="4791456" y="3165652"/>
            <a:ext cx="292608" cy="292608"/>
          </a:xfrm>
          <a:prstGeom prst="ellipse">
            <a:avLst/>
          </a:prstGeom>
          <a:solidFill>
            <a:srgbClr val="F9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292608" y="1371600"/>
            <a:ext cx="4206240" cy="1554480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Built: six unique looks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Whiteboard, notebook, poster, editorial, broadcast and bento. Structure, font and motion differ, not only colour.</a:t>
            </a:r>
          </a:p>
        </p:txBody>
      </p:sp>
      <p:sp>
        <p:nvSpPr>
          <p:cNvPr id="153" name="Oval 152"/>
          <p:cNvSpPr/>
          <p:nvPr/>
        </p:nvSpPr>
        <p:spPr>
          <a:xfrm>
            <a:off x="438912" y="1474012"/>
            <a:ext cx="292608" cy="29260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645152" y="1371600"/>
            <a:ext cx="4206240" cy="1554480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Built: hand-drawn motion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Underlines and doodles draw themselves, and a marker sweeps under the point being explained.</a:t>
            </a:r>
          </a:p>
        </p:txBody>
      </p:sp>
      <p:sp>
        <p:nvSpPr>
          <p:cNvPr id="155" name="Oval 154"/>
          <p:cNvSpPr/>
          <p:nvPr/>
        </p:nvSpPr>
        <p:spPr>
          <a:xfrm>
            <a:off x="4791456" y="1474012"/>
            <a:ext cx="292608" cy="29260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292608" y="3063240"/>
            <a:ext cx="4206240" cy="1554480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Next: Manim-style motion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Animated formulas and graphs when the chapter has maths.</a:t>
            </a:r>
          </a:p>
        </p:txBody>
      </p:sp>
      <p:sp>
        <p:nvSpPr>
          <p:cNvPr id="157" name="Oval 156"/>
          <p:cNvSpPr/>
          <p:nvPr/>
        </p:nvSpPr>
        <p:spPr>
          <a:xfrm>
            <a:off x="438912" y="3165652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645152" y="3063240"/>
            <a:ext cx="4206240" cy="1554480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Next: questions mid-video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pause with a question after each section, so students answer instead of only watching.</a:t>
            </a:r>
          </a:p>
        </p:txBody>
      </p:sp>
      <p:sp>
        <p:nvSpPr>
          <p:cNvPr id="159" name="Oval 158"/>
          <p:cNvSpPr/>
          <p:nvPr/>
        </p:nvSpPr>
        <p:spPr>
          <a:xfrm>
            <a:off x="4791456" y="3165652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5"/>
              </a:rPr>
              <a:t>https://github.com/saitej123/Gemini-Multimodal-Studio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Still to record: 3 to 4 minutes, one real file.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6"/>
              </a:rPr>
              <a:t>https://multimodal-studio-469528918286.us-central1.run.app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